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Checks</c:v>
                </c:pt>
              </c:strCache>
            </c:strRef>
          </c:tx>
          <c:spPr>
            <a:solidFill>
              <a:srgbClr val="2EC4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Auth</c:v>
                  </c:pt>
                  <c:pt idx="1">
                    <c:v>Authorization</c:v>
                  </c:pt>
                  <c:pt idx="2">
                    <c:v>CRUD</c:v>
                  </c:pt>
                  <c:pt idx="3">
                    <c:v>Attendance</c:v>
                  </c:pt>
                  <c:pt idx="4">
                    <c:v>Marks/GPA</c:v>
                  </c:pt>
                  <c:pt idx="5">
                    <c:v>Reports</c:v>
                  </c:pt>
                  <c:pt idx="6">
                    <c:v>Dashboards</c:v>
                  </c:pt>
                  <c:pt idx="7">
                    <c:v>Validation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</c:v>
                </c:pt>
                <c:pt idx="1">
                  <c:v>7</c:v>
                </c:pt>
                <c:pt idx="2">
                  <c:v>11</c:v>
                </c:pt>
                <c:pt idx="3">
                  <c:v>5</c:v>
                </c:pt>
                <c:pt idx="4">
                  <c:v>6</c:v>
                </c:pt>
                <c:pt idx="5">
                  <c:v>9</c:v>
                </c:pt>
                <c:pt idx="6">
                  <c:v>5</c:v>
                </c:pt>
                <c:pt idx="7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CFE3E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This is our full-stack Student Academic Records and Attendance Management System, built by Group 8. It has three user roles and covers the full academic lifecycle.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roles: admin manages everything, teacher works with their own courses, student sees only their own records. Every figure is real, from the database.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Java 21 because Spring Boot 3 does not support Java 26. Frontend kept minimal: Axios and React Router only. We stayed exactly within the required stack.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request flows React to Controller to Service to Repository to PostgreSQL. Controllers only handle HTTP; services hold the logic. DTOs keep sensitive data from leaking.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 tables. Enrollment resolves the many-to-many between students and courses and carries the semester and year. Duplicates blocked by a unique constraint. Grades are computed, never stored.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JWT for stateless login. Authorization is two layers: role checks and ownership checks. Students can never write marks. No sensitive data leaks and SQL injection is blocked.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Attendance counts late as present. Grades are weighted by assessment. GPA is weighted by credits. One shared utility keeps every screen consistent.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areas, one per member. Each person owns their backend, frontend, tables and can defend their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23 unit tests and 52 integration checks, all passing. Key numbers cross-checked against direct SQL. The database has no orphaned or duplicate rows.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all three logins to show how the whole experience changes by role. Finish by proving the 403 on a forbidden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you. We are ready for questions — each member can defend their own part of the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377440"/>
            <a:ext cx="5943600" cy="594360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3566160"/>
            <a:ext cx="6217920" cy="6217920"/>
          </a:xfrm>
          <a:prstGeom prst="ellipse">
            <a:avLst/>
          </a:prstGeom>
          <a:solidFill>
            <a:srgbClr val="0E2A44"/>
          </a:solidFill>
          <a:ln/>
        </p:spPr>
      </p:sp>
      <p:sp>
        <p:nvSpPr>
          <p:cNvPr id="4" name="Shape 2"/>
          <p:cNvSpPr/>
          <p:nvPr/>
        </p:nvSpPr>
        <p:spPr>
          <a:xfrm>
            <a:off x="10058400" y="-1280160"/>
            <a:ext cx="2377440" cy="23774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914400"/>
            <a:ext cx="2011680" cy="457200"/>
          </a:xfrm>
          <a:prstGeom prst="roundRect">
            <a:avLst>
              <a:gd name="adj" fmla="val 16000"/>
            </a:avLst>
          </a:prstGeom>
          <a:solidFill>
            <a:srgbClr val="2EC4B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9144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8  •  2025–2026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554480"/>
            <a:ext cx="10515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Student Academic Records</a:t>
            </a:r>
            <a:endParaRPr lang="en-US" sz="4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&amp; Attendance Management System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22960" y="37947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full-stack web application — Spring Boot REST API + ReactJS SPA + PostgreSQL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22960" y="5029200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14324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50292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Shuaib Osman Daud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566160" y="5029200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14324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50292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Dahir Mohamed Shaie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309360" y="5029200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14324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09360" y="50292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Aisha Hassan Hersi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052560" y="5029200"/>
            <a:ext cx="2560320" cy="640080"/>
          </a:xfrm>
          <a:prstGeom prst="roundRect">
            <a:avLst>
              <a:gd name="adj" fmla="val 11429"/>
            </a:avLst>
          </a:prstGeom>
          <a:solidFill>
            <a:srgbClr val="14324C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52560" y="50292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Idiris Abdi Mohamed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22960" y="60350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Roles: Administrator · Teacher · Student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6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the system does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manual registers and spreadsheets with one secure, database-backed source of truth.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74720" cy="3566160"/>
          </a:xfrm>
          <a:prstGeom prst="roundRect">
            <a:avLst>
              <a:gd name="adj" fmla="val 2368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E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286000"/>
            <a:ext cx="822960" cy="82296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32461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26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Administrator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960120" y="374904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departments, students, teachers, courses and enrollments; sees the whole institution.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389120" y="1965960"/>
            <a:ext cx="3474720" cy="3566160"/>
          </a:xfrm>
          <a:prstGeom prst="roundRect">
            <a:avLst>
              <a:gd name="adj" fmla="val 2368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E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228600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709160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709160" y="32461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26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Teacher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709160" y="374904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attendance and marks for their own courses; views their students' performance.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8138160" y="1965960"/>
            <a:ext cx="3474720" cy="3566160"/>
          </a:xfrm>
          <a:prstGeom prst="roundRect">
            <a:avLst>
              <a:gd name="adj" fmla="val 2368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E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58200" y="2286000"/>
            <a:ext cx="822960" cy="82296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6" name="Text 14"/>
          <p:cNvSpPr/>
          <p:nvPr/>
        </p:nvSpPr>
        <p:spPr>
          <a:xfrm>
            <a:off x="8458200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458200" y="32461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726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Student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458200" y="3749040"/>
            <a:ext cx="28803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Views their own attendance, grades, GPA and transcript — read-only.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shown to any user comes from a real PostgreSQL query — no fake data.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6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Technology stack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3474720" cy="4480560"/>
          </a:xfrm>
          <a:prstGeom prst="roundRect">
            <a:avLst>
              <a:gd name="adj" fmla="val 2368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E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463040"/>
            <a:ext cx="3474720" cy="685800"/>
          </a:xfrm>
          <a:prstGeom prst="roundRect">
            <a:avLst>
              <a:gd name="adj" fmla="val 12000"/>
            </a:avLst>
          </a:prstGeom>
          <a:solidFill>
            <a:srgbClr val="0B4F6C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4630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Backend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60120" y="2377440"/>
            <a:ext cx="29260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 (LTS)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Boot 3.4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Web (REST)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Data JPA + Hibernate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Security + JWT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Bean Validation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89120" y="1463040"/>
            <a:ext cx="3474720" cy="4480560"/>
          </a:xfrm>
          <a:prstGeom prst="roundRect">
            <a:avLst>
              <a:gd name="adj" fmla="val 2368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E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389120" y="1463040"/>
            <a:ext cx="3474720" cy="685800"/>
          </a:xfrm>
          <a:prstGeom prst="roundRect">
            <a:avLst>
              <a:gd name="adj" fmla="val 12000"/>
            </a:avLst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14630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Frontend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709160" y="2377440"/>
            <a:ext cx="29260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ReactJS 18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Axios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v6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Context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CSS (responsive)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38160" y="1463040"/>
            <a:ext cx="3474720" cy="4480560"/>
          </a:xfrm>
          <a:prstGeom prst="roundRect">
            <a:avLst>
              <a:gd name="adj" fmla="val 2368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E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138160" y="1463040"/>
            <a:ext cx="3474720" cy="685800"/>
          </a:xfrm>
          <a:prstGeom prst="roundRect">
            <a:avLst>
              <a:gd name="adj" fmla="val 12000"/>
            </a:avLst>
          </a:prstGeom>
          <a:solidFill>
            <a:srgbClr val="2EC4B6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0" y="1463040"/>
            <a:ext cx="3108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Database &amp; Tools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458200" y="2377440"/>
            <a:ext cx="29260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18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 hashing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+ GitHub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JUnit tests</a:t>
            </a:r>
            <a:endParaRPr lang="en-US" sz="14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feature branches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6172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kept exactly to the specification — no microservices, Docker, Redis or unnecessary libraries.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Layered architecture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has one job — HTTP, business logic, or data access — so code is easy to test and change.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828800" y="1783080"/>
            <a:ext cx="5852160" cy="749808"/>
          </a:xfrm>
          <a:prstGeom prst="roundRect">
            <a:avLst>
              <a:gd name="adj" fmla="val 9756"/>
            </a:avLst>
          </a:prstGeom>
          <a:solidFill>
            <a:srgbClr val="14324C"/>
          </a:solidFill>
          <a:ln/>
          <a:effectLst>
            <a:outerShdw sx="100000" sy="100000" kx="0" ky="0" algn="bl" rotWithShape="0" blurRad="76200" dist="25400" dir="5400000">
              <a:srgbClr val="9FB4BE">
                <a:alpha val="3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103120" y="1783080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React (Vite)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297680" y="1783080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the user sees; Axios sends JSON + JWT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26280" y="2542032"/>
            <a:ext cx="457200" cy="201168"/>
          </a:xfrm>
          <a:prstGeom prst="downArrow">
            <a:avLst/>
          </a:prstGeom>
          <a:solidFill>
            <a:srgbClr val="2A4A63"/>
          </a:solidFill>
          <a:ln/>
        </p:spPr>
      </p:sp>
      <p:sp>
        <p:nvSpPr>
          <p:cNvPr id="8" name="Shape 6"/>
          <p:cNvSpPr/>
          <p:nvPr/>
        </p:nvSpPr>
        <p:spPr>
          <a:xfrm>
            <a:off x="1828800" y="2715768"/>
            <a:ext cx="5852160" cy="749808"/>
          </a:xfrm>
          <a:prstGeom prst="roundRect">
            <a:avLst>
              <a:gd name="adj" fmla="val 9756"/>
            </a:avLst>
          </a:prstGeom>
          <a:solidFill>
            <a:srgbClr val="0B4F6C"/>
          </a:solidFill>
          <a:ln/>
          <a:effectLst>
            <a:outerShdw sx="100000" sy="100000" kx="0" ky="0" algn="bl" rotWithShape="0" blurRad="76200" dist="25400" dir="5400000">
              <a:srgbClr val="9FB4BE">
                <a:alpha val="3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03120" y="2715768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Controller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297680" y="2715768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the HTTP request only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26280" y="3474720"/>
            <a:ext cx="457200" cy="201168"/>
          </a:xfrm>
          <a:prstGeom prst="downArrow">
            <a:avLst/>
          </a:prstGeom>
          <a:solidFill>
            <a:srgbClr val="2A4A63"/>
          </a:solidFill>
          <a:ln/>
        </p:spPr>
      </p:sp>
      <p:sp>
        <p:nvSpPr>
          <p:cNvPr id="12" name="Shape 10"/>
          <p:cNvSpPr/>
          <p:nvPr/>
        </p:nvSpPr>
        <p:spPr>
          <a:xfrm>
            <a:off x="1828800" y="3648456"/>
            <a:ext cx="5852160" cy="749808"/>
          </a:xfrm>
          <a:prstGeom prst="roundRect">
            <a:avLst>
              <a:gd name="adj" fmla="val 9756"/>
            </a:avLst>
          </a:prstGeom>
          <a:solidFill>
            <a:srgbClr val="1C7293"/>
          </a:solidFill>
          <a:ln/>
          <a:effectLst>
            <a:outerShdw sx="100000" sy="100000" kx="0" ky="0" algn="bl" rotWithShape="0" blurRad="76200" dist="25400" dir="5400000">
              <a:srgbClr val="9FB4BE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103120" y="3648456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Service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297680" y="3648456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logic + transactions (@Transactional)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26280" y="4407408"/>
            <a:ext cx="457200" cy="201168"/>
          </a:xfrm>
          <a:prstGeom prst="downArrow">
            <a:avLst/>
          </a:prstGeom>
          <a:solidFill>
            <a:srgbClr val="2A4A63"/>
          </a:solidFill>
          <a:ln/>
        </p:spPr>
      </p:sp>
      <p:sp>
        <p:nvSpPr>
          <p:cNvPr id="16" name="Shape 14"/>
          <p:cNvSpPr/>
          <p:nvPr/>
        </p:nvSpPr>
        <p:spPr>
          <a:xfrm>
            <a:off x="1828800" y="4581144"/>
            <a:ext cx="5852160" cy="749808"/>
          </a:xfrm>
          <a:prstGeom prst="roundRect">
            <a:avLst>
              <a:gd name="adj" fmla="val 9756"/>
            </a:avLst>
          </a:prstGeom>
          <a:solidFill>
            <a:srgbClr val="1F8A9B"/>
          </a:solidFill>
          <a:ln/>
          <a:effectLst>
            <a:outerShdw sx="100000" sy="100000" kx="0" ky="0" algn="bl" rotWithShape="0" blurRad="76200" dist="25400" dir="5400000">
              <a:srgbClr val="9FB4BE">
                <a:alpha val="3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103120" y="4581144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Repository / JPA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297680" y="4581144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Talks to the database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26280" y="5340096"/>
            <a:ext cx="457200" cy="201168"/>
          </a:xfrm>
          <a:prstGeom prst="downArrow">
            <a:avLst/>
          </a:prstGeom>
          <a:solidFill>
            <a:srgbClr val="2A4A63"/>
          </a:solidFill>
          <a:ln/>
        </p:spPr>
      </p:sp>
      <p:sp>
        <p:nvSpPr>
          <p:cNvPr id="20" name="Shape 18"/>
          <p:cNvSpPr/>
          <p:nvPr/>
        </p:nvSpPr>
        <p:spPr>
          <a:xfrm>
            <a:off x="1828800" y="5513832"/>
            <a:ext cx="5852160" cy="749808"/>
          </a:xfrm>
          <a:prstGeom prst="roundRect">
            <a:avLst>
              <a:gd name="adj" fmla="val 9756"/>
            </a:avLst>
          </a:prstGeom>
          <a:solidFill>
            <a:srgbClr val="2EC4B6"/>
          </a:solidFill>
          <a:ln/>
          <a:effectLst>
            <a:outerShdw sx="100000" sy="100000" kx="0" ky="0" algn="bl" rotWithShape="0" blurRad="76200" dist="25400" dir="5400000">
              <a:srgbClr val="9FB4BE">
                <a:alpha val="3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103120" y="5513832"/>
            <a:ext cx="2377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PostgreSQL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297680" y="5513832"/>
            <a:ext cx="32004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all the data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229600" y="2011680"/>
            <a:ext cx="3291840" cy="3291840"/>
          </a:xfrm>
          <a:prstGeom prst="roundRect">
            <a:avLst>
              <a:gd name="adj" fmla="val 2778"/>
            </a:avLst>
          </a:prstGeom>
          <a:solidFill>
            <a:srgbClr val="0E2A44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503920" y="2240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C4B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549640" y="2743200"/>
            <a:ext cx="27889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DTOs cross every layer — the password hash never reaches the browser.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rules live in services, never in controllers or React.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central error handler gives every error a clean status code.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6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Database design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normalized tables. Enrollment is the key entity — it links a student to a course and owns their attendance and marks.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4F6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Student  →  Enrollment  →  Attendance / Marks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3474720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E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28803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EC4B6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3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60120" y="34747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6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Why Enrollment is its own table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60120" y="425196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student takes many courses and a course has many students. The enrollment also stores the semester and year, so it must be a real table — not just a link.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89120" y="2606040"/>
            <a:ext cx="3474720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E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28803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EC4B6"/>
          </a:solidFill>
          <a:ln/>
        </p:spPr>
      </p:sp>
      <p:sp>
        <p:nvSpPr>
          <p:cNvPr id="12" name="Text 10"/>
          <p:cNvSpPr/>
          <p:nvPr/>
        </p:nvSpPr>
        <p:spPr>
          <a:xfrm>
            <a:off x="470916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3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09160" y="34747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6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Duplicate prevention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709160" y="425196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unique rule on (student, course, semester, year) makes double-enrollment impossible; the app returns a clean 409 error.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38160" y="2606040"/>
            <a:ext cx="3474720" cy="3108960"/>
          </a:xfrm>
          <a:prstGeom prst="roundRect">
            <a:avLst>
              <a:gd name="adj" fmla="val 2647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E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458200" y="2880360"/>
            <a:ext cx="457200" cy="457200"/>
          </a:xfrm>
          <a:prstGeom prst="roundRect">
            <a:avLst>
              <a:gd name="adj" fmla="val 12000"/>
            </a:avLst>
          </a:prstGeom>
          <a:solidFill>
            <a:srgbClr val="2EC4B6"/>
          </a:solidFill>
          <a:ln/>
        </p:spPr>
      </p:sp>
      <p:sp>
        <p:nvSpPr>
          <p:cNvPr id="17" name="Text 15"/>
          <p:cNvSpPr/>
          <p:nvPr/>
        </p:nvSpPr>
        <p:spPr>
          <a:xfrm>
            <a:off x="845820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323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458200" y="34747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6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Grades are never stored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458200" y="425196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 grade and GPA are calculated from the marks whenever needed, so they can never go out of date.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Security &amp; authorization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5303520" cy="1874520"/>
          </a:xfrm>
          <a:prstGeom prst="roundRect">
            <a:avLst>
              <a:gd name="adj" fmla="val 4878"/>
            </a:avLst>
          </a:prstGeom>
          <a:solidFill>
            <a:srgbClr val="0E2A44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E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60120" y="1874520"/>
            <a:ext cx="640080" cy="64008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23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783080" y="18745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JWT login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05840" y="260604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checks the BCrypt password and returns a signed token. Every later request carries that token.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17920" y="1554480"/>
            <a:ext cx="5303520" cy="1874520"/>
          </a:xfrm>
          <a:prstGeom prst="roundRect">
            <a:avLst>
              <a:gd name="adj" fmla="val 4878"/>
            </a:avLst>
          </a:prstGeom>
          <a:solidFill>
            <a:srgbClr val="0E2A44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E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37960" y="1874520"/>
            <a:ext cx="640080" cy="64008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1874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23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360920" y="187452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Two-layer checks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583680" y="260604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rules on endpoints, plus ownership checks — a teacher can only touch their own courses.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3657600"/>
            <a:ext cx="5303520" cy="1874520"/>
          </a:xfrm>
          <a:prstGeom prst="roundRect">
            <a:avLst>
              <a:gd name="adj" fmla="val 4878"/>
            </a:avLst>
          </a:prstGeom>
          <a:solidFill>
            <a:srgbClr val="0E2A44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E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60120" y="3977640"/>
            <a:ext cx="640080" cy="64008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977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23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783080" y="39776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Students can't edit marks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005840" y="470916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 endpoints reject the STUDENT role entirely — enforced on the server, not just hidden in the UI.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17920" y="3657600"/>
            <a:ext cx="5303520" cy="1874520"/>
          </a:xfrm>
          <a:prstGeom prst="roundRect">
            <a:avLst>
              <a:gd name="adj" fmla="val 4878"/>
            </a:avLst>
          </a:prstGeom>
          <a:solidFill>
            <a:srgbClr val="0E2A44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E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37960" y="3977640"/>
            <a:ext cx="640080" cy="64008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3977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323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360920" y="39776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Nothing leaks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583680" y="470916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password hash and no stack trace ever leaves the API; SQL injection is blocked by JPA.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6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Core academic logic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108813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E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554480"/>
            <a:ext cx="164592" cy="1234440"/>
          </a:xfrm>
          <a:prstGeom prst="roundRect">
            <a:avLst/>
          </a:prstGeom>
          <a:solidFill>
            <a:srgbClr val="0B4F6C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554480"/>
            <a:ext cx="2743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4F6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Attendance %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3840480" y="1554480"/>
            <a:ext cx="7406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+ Late count as attended. 18 of 20 sessions = 90%. A student with no records has no percentage — not 0%.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971800"/>
            <a:ext cx="108813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E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971800"/>
            <a:ext cx="164592" cy="1234440"/>
          </a:xfrm>
          <a:prstGeom prst="roundRect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971800"/>
            <a:ext cx="2743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C729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Weighted grades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3840480" y="2971800"/>
            <a:ext cx="7406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assessment has a weight. 8/10 on a 20% quiz + 90/100 on an 80% final = 88% → grade A.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4389120"/>
            <a:ext cx="10881360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E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4389120"/>
            <a:ext cx="164592" cy="1234440"/>
          </a:xfrm>
          <a:prstGeom prst="roundRect">
            <a:avLst/>
          </a:prstGeom>
          <a:solidFill>
            <a:srgbClr val="2EC4B6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4389120"/>
            <a:ext cx="2743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EC4B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Credit-weighted GPA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3840480" y="4389120"/>
            <a:ext cx="74066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400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Heavier courses count more: A+ (4.0) on 3 credits and F (0.0) on 3 credits → GPA 2.00.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5989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grade logic (GradeUtil) is used by marks, transcripts and reports — so the numbers always agree.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6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Who built what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1088136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E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700784"/>
            <a:ext cx="548640" cy="54864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007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600200" y="1609344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6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Shuaib Osman Daud  —  </a:t>
            </a:r>
            <a:pPr indent="0" marL="0">
              <a:buNone/>
            </a:pPr>
            <a:r>
              <a:rPr lang="en-US" sz="1500" b="1" dirty="0">
                <a:solidFill>
                  <a:srgbClr val="0B4F6C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Authentication &amp; Security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00200" y="196596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JWT, roles, protected routes, user management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412480" y="1965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· roles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40080" y="2633472"/>
            <a:ext cx="1088136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E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2871216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287121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600200" y="2779776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6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Dahir Mohamed Shaie  —  </a:t>
            </a:r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Students, Departments &amp; Courses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00200" y="3136392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CRUD, search, filtering, pagination, delete rules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412480" y="313639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departments · students · teachers · courses · enrollments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3803904"/>
            <a:ext cx="1088136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E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8680" y="4041648"/>
            <a:ext cx="548640" cy="548640"/>
          </a:xfrm>
          <a:prstGeom prst="ellipse">
            <a:avLst/>
          </a:prstGeom>
          <a:solidFill>
            <a:srgbClr val="1F8A9B"/>
          </a:solidFill>
          <a:ln/>
        </p:spPr>
      </p:sp>
      <p:sp>
        <p:nvSpPr>
          <p:cNvPr id="17" name="Text 15"/>
          <p:cNvSpPr/>
          <p:nvPr/>
        </p:nvSpPr>
        <p:spPr>
          <a:xfrm>
            <a:off x="868680" y="40416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600200" y="3950208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6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Aisha Hassan Hersi  —  </a:t>
            </a:r>
            <a:pPr indent="0" marL="0">
              <a:buNone/>
            </a:pPr>
            <a:r>
              <a:rPr lang="en-US" sz="1500" b="1" dirty="0">
                <a:solidFill>
                  <a:srgbClr val="1F8A9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Attendance, Assessments &amp; Marks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600200" y="4306824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%, grades, GPA logic, teacher-only access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412480" y="4306824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· assessments · marks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0080" y="4974336"/>
            <a:ext cx="10881360" cy="1024128"/>
          </a:xfrm>
          <a:prstGeom prst="roundRect">
            <a:avLst>
              <a:gd name="adj" fmla="val 8036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E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68680" y="5212080"/>
            <a:ext cx="548640" cy="548640"/>
          </a:xfrm>
          <a:prstGeom prst="ellipse">
            <a:avLst/>
          </a:prstGeom>
          <a:solidFill>
            <a:srgbClr val="2EC4B6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5212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323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600200" y="5120640"/>
            <a:ext cx="9692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6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Idiris Abdi Mohamed  —  </a:t>
            </a:r>
            <a:pPr indent="0" marL="0">
              <a:buNone/>
            </a:pPr>
            <a:r>
              <a:rPr lang="en-US" sz="1500" b="1" dirty="0">
                <a:solidFill>
                  <a:srgbClr val="2EC4B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Dashboards, Transcripts &amp; Reports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600200" y="5477256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dashboards, transcript, 8 reports, charts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412480" y="5477256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queries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Testing &amp; quality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40080" y="1463040"/>
            <a:ext cx="2560320" cy="1737360"/>
          </a:xfrm>
          <a:prstGeom prst="roundRect">
            <a:avLst>
              <a:gd name="adj" fmla="val 5263"/>
            </a:avLst>
          </a:prstGeom>
          <a:solidFill>
            <a:srgbClr val="0E2A44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E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60020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EC4B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23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passing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429000" y="1463040"/>
            <a:ext cx="2560320" cy="1737360"/>
          </a:xfrm>
          <a:prstGeom prst="roundRect">
            <a:avLst>
              <a:gd name="adj" fmla="val 5263"/>
            </a:avLst>
          </a:prstGeom>
          <a:solidFill>
            <a:srgbClr val="0E2A44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E">
                <a:alpha val="3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429000" y="160020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EC4B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52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3429000" y="26060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checks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17920" y="1463040"/>
            <a:ext cx="2560320" cy="1737360"/>
          </a:xfrm>
          <a:prstGeom prst="roundRect">
            <a:avLst>
              <a:gd name="adj" fmla="val 5263"/>
            </a:avLst>
          </a:prstGeom>
          <a:solidFill>
            <a:srgbClr val="0E2A44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E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217920" y="160020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EC4B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6217920" y="26060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9006840" y="1463040"/>
            <a:ext cx="2560320" cy="1737360"/>
          </a:xfrm>
          <a:prstGeom prst="roundRect">
            <a:avLst>
              <a:gd name="adj" fmla="val 5263"/>
            </a:avLst>
          </a:prstGeom>
          <a:solidFill>
            <a:srgbClr val="0E2A44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E">
                <a:alpha val="3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006840" y="160020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EC4B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11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9006840" y="26060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verified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34747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we tested</a:t>
            </a:r>
            <a:endParaRPr lang="en-US" sz="1600" dirty="0"/>
          </a:p>
        </p:txBody>
      </p:sp>
      <p:graphicFrame>
        <p:nvGraphicFramePr>
          <p:cNvPr id="16" name="Chart 0" descr=""/>
          <p:cNvGraphicFramePr/>
          <p:nvPr/>
        </p:nvGraphicFramePr>
        <p:xfrm>
          <a:off x="640080" y="3886200"/>
          <a:ext cx="6766560" cy="26517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7" name="Shape 14"/>
          <p:cNvSpPr/>
          <p:nvPr/>
        </p:nvSpPr>
        <p:spPr>
          <a:xfrm>
            <a:off x="7772400" y="3886200"/>
            <a:ext cx="3749040" cy="2651760"/>
          </a:xfrm>
          <a:prstGeom prst="roundRect">
            <a:avLst>
              <a:gd name="adj" fmla="val 3448"/>
            </a:avLst>
          </a:prstGeom>
          <a:solidFill>
            <a:srgbClr val="0E2A44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046720" y="40690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C4B6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Verified against real data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092440" y="457200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20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90.00% — checked with SQL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20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GPA 4.00 — checked by hand</a:t>
            </a:r>
            <a:endParaRPr lang="en-US" sz="1200" dirty="0"/>
          </a:p>
          <a:p>
            <a:pPr marL="342900" indent="-342900">
              <a:spcAft>
                <a:spcPts val="900"/>
              </a:spcAft>
              <a:buSzPct val="100000"/>
              <a:buChar char="✓"/>
            </a:pPr>
            <a:r>
              <a:rPr lang="en-US" sz="120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Pass/Fail 6 of 8 — matches marks</a:t>
            </a:r>
            <a:endParaRPr lang="en-US" sz="1200" dirty="0"/>
          </a:p>
          <a:p>
            <a:pPr marL="342900" indent="-342900">
              <a:buSzPct val="100000"/>
              <a:buChar char="✓"/>
            </a:pPr>
            <a:r>
              <a:rPr lang="en-US" sz="120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orphaned or duplicate rows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7262E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Live demo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123444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 as each role — the menu and data change completely.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7472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E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965960"/>
            <a:ext cx="3474720" cy="822960"/>
          </a:xfrm>
          <a:prstGeom prst="roundRect">
            <a:avLst>
              <a:gd name="adj" fmla="val 10000"/>
            </a:avLst>
          </a:prstGeom>
          <a:solidFill>
            <a:srgbClr val="0B4F6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9659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Administrator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14400" y="2971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login:  </a:t>
            </a:r>
            <a:pPr indent="0" marL="0">
              <a:buNone/>
            </a:pPr>
            <a:r>
              <a:rPr lang="en-US" sz="1400" b="1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3429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password:  Password123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14400" y="39776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counts + chart, manage records, run reports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89120" y="1965960"/>
            <a:ext cx="347472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E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89120" y="1965960"/>
            <a:ext cx="3474720" cy="82296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19659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Teacher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663440" y="2971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login:  </a:t>
            </a:r>
            <a:pPr indent="0" marL="0">
              <a:buNone/>
            </a:pPr>
            <a:r>
              <a:rPr lang="en-US" sz="1400" b="1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t.smith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63440" y="3429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password:  Password123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663440" y="39776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attendance, enter marks — only for own courses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138160" y="1965960"/>
            <a:ext cx="347472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DCE7EC"/>
            </a:solidFill>
            <a:prstDash val="solid"/>
          </a:ln>
          <a:effectLst>
            <a:outerShdw sx="100000" sy="100000" kx="0" ky="0" algn="bl" rotWithShape="0" blurRad="76200" dist="25400" dir="5400000">
              <a:srgbClr val="9FB4BE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38160" y="1965960"/>
            <a:ext cx="3474720" cy="822960"/>
          </a:xfrm>
          <a:prstGeom prst="roundRect">
            <a:avLst>
              <a:gd name="adj" fmla="val 10000"/>
            </a:avLst>
          </a:prstGeom>
          <a:solidFill>
            <a:srgbClr val="2EC4B6"/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0" y="19659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Student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412480" y="29718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login:  </a:t>
            </a:r>
            <a:pPr indent="0" marL="0">
              <a:buNone/>
            </a:pPr>
            <a:r>
              <a:rPr lang="en-US" sz="1400" b="1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cs.student7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412480" y="3429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password:  Password123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412480" y="397764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1726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Low-attendance warning, grades, transcript with GPA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40080" y="54864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0B4F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Then: as the student, open /departments in the URL — you get a 403. Security is real, not just a hidden menu.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2011680"/>
            <a:ext cx="5943600" cy="5943600"/>
          </a:xfrm>
          <a:prstGeom prst="ellipse">
            <a:avLst/>
          </a:prstGeom>
          <a:solidFill>
            <a:srgbClr val="0B4F6C"/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023360"/>
            <a:ext cx="5486400" cy="5486400"/>
          </a:xfrm>
          <a:prstGeom prst="ellipse">
            <a:avLst/>
          </a:prstGeom>
          <a:solidFill>
            <a:srgbClr val="0E2A44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01168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22960" y="310896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complete, tested, secure full-stack system — every phase delivered and verified.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4114800"/>
            <a:ext cx="1828800" cy="502920"/>
          </a:xfrm>
          <a:prstGeom prst="roundRect">
            <a:avLst>
              <a:gd name="adj" fmla="val 14545"/>
            </a:avLst>
          </a:prstGeom>
          <a:solidFill>
            <a:srgbClr val="2EC4B6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411480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github.com/TShubka/SAMS-FullStack-Project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50292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viva defense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SAMS - Group 8</dc:title>
  <dc:subject>PptxGenJS Presentation</dc:subject>
  <dc:creator>Group 8</dc:creator>
  <cp:lastModifiedBy>Group 8</cp:lastModifiedBy>
  <cp:revision>1</cp:revision>
  <dcterms:created xsi:type="dcterms:W3CDTF">2026-07-26T07:25:39Z</dcterms:created>
  <dcterms:modified xsi:type="dcterms:W3CDTF">2026-07-26T07:25:39Z</dcterms:modified>
</cp:coreProperties>
</file>